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3" r:id="rId5"/>
    <p:sldId id="260" r:id="rId6"/>
    <p:sldId id="264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E2BBC6-32AC-4129-AF59-927F125864FC}" v="5" dt="2026-10-20T14:52:13.1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9935" autoAdjust="0"/>
  </p:normalViewPr>
  <p:slideViewPr>
    <p:cSldViewPr snapToGrid="0" snapToObjects="1">
      <p:cViewPr varScale="1">
        <p:scale>
          <a:sx n="99" d="100"/>
          <a:sy n="99" d="100"/>
        </p:scale>
        <p:origin x="996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 seguin" userId="c47c39593cf1707d" providerId="LiveId" clId="{56C82717-B78C-4079-A034-267DC212A18F}"/>
    <pc:docChg chg="custSel addSld delSld modSld sldOrd">
      <pc:chgData name="alex seguin" userId="c47c39593cf1707d" providerId="LiveId" clId="{56C82717-B78C-4079-A034-267DC212A18F}" dt="2026-10-21T14:04:53.846" v="385" actId="20577"/>
      <pc:docMkLst>
        <pc:docMk/>
      </pc:docMkLst>
      <pc:sldChg chg="addSp delSp modSp mod">
        <pc:chgData name="alex seguin" userId="c47c39593cf1707d" providerId="LiveId" clId="{56C82717-B78C-4079-A034-267DC212A18F}" dt="2026-10-20T14:58:11.379" v="293" actId="1076"/>
        <pc:sldMkLst>
          <pc:docMk/>
          <pc:sldMk cId="0" sldId="260"/>
        </pc:sldMkLst>
        <pc:spChg chg="mod">
          <ac:chgData name="alex seguin" userId="c47c39593cf1707d" providerId="LiveId" clId="{56C82717-B78C-4079-A034-267DC212A18F}" dt="2026-10-20T14:56:55.496" v="284" actId="20577"/>
          <ac:spMkLst>
            <pc:docMk/>
            <pc:sldMk cId="0" sldId="260"/>
            <ac:spMk id="2" creationId="{00000000-0000-0000-0000-000000000000}"/>
          </ac:spMkLst>
        </pc:spChg>
        <pc:spChg chg="mod">
          <ac:chgData name="alex seguin" userId="c47c39593cf1707d" providerId="LiveId" clId="{56C82717-B78C-4079-A034-267DC212A18F}" dt="2026-10-20T14:37:52.547" v="223" actId="20577"/>
          <ac:spMkLst>
            <pc:docMk/>
            <pc:sldMk cId="0" sldId="260"/>
            <ac:spMk id="6" creationId="{00000000-0000-0000-0000-000000000000}"/>
          </ac:spMkLst>
        </pc:spChg>
        <pc:spChg chg="mod">
          <ac:chgData name="alex seguin" userId="c47c39593cf1707d" providerId="LiveId" clId="{56C82717-B78C-4079-A034-267DC212A18F}" dt="2026-10-20T14:38:16.560" v="232" actId="20577"/>
          <ac:spMkLst>
            <pc:docMk/>
            <pc:sldMk cId="0" sldId="260"/>
            <ac:spMk id="8" creationId="{00000000-0000-0000-0000-000000000000}"/>
          </ac:spMkLst>
        </pc:spChg>
        <pc:spChg chg="mod">
          <ac:chgData name="alex seguin" userId="c47c39593cf1707d" providerId="LiveId" clId="{56C82717-B78C-4079-A034-267DC212A18F}" dt="2026-10-20T14:38:33.513" v="238" actId="20577"/>
          <ac:spMkLst>
            <pc:docMk/>
            <pc:sldMk cId="0" sldId="260"/>
            <ac:spMk id="10" creationId="{00000000-0000-0000-0000-000000000000}"/>
          </ac:spMkLst>
        </pc:spChg>
        <pc:spChg chg="del">
          <ac:chgData name="alex seguin" userId="c47c39593cf1707d" providerId="LiveId" clId="{56C82717-B78C-4079-A034-267DC212A18F}" dt="2026-10-20T14:57:48.087" v="286" actId="478"/>
          <ac:spMkLst>
            <pc:docMk/>
            <pc:sldMk cId="0" sldId="260"/>
            <ac:spMk id="15" creationId="{00000000-0000-0000-0000-000000000000}"/>
          </ac:spMkLst>
        </pc:spChg>
        <pc:spChg chg="del">
          <ac:chgData name="alex seguin" userId="c47c39593cf1707d" providerId="LiveId" clId="{56C82717-B78C-4079-A034-267DC212A18F}" dt="2026-10-20T14:57:48.087" v="286" actId="478"/>
          <ac:spMkLst>
            <pc:docMk/>
            <pc:sldMk cId="0" sldId="260"/>
            <ac:spMk id="16" creationId="{00000000-0000-0000-0000-000000000000}"/>
          </ac:spMkLst>
        </pc:spChg>
        <pc:spChg chg="del">
          <ac:chgData name="alex seguin" userId="c47c39593cf1707d" providerId="LiveId" clId="{56C82717-B78C-4079-A034-267DC212A18F}" dt="2026-10-20T14:57:48.087" v="286" actId="478"/>
          <ac:spMkLst>
            <pc:docMk/>
            <pc:sldMk cId="0" sldId="260"/>
            <ac:spMk id="17" creationId="{00000000-0000-0000-0000-000000000000}"/>
          </ac:spMkLst>
        </pc:spChg>
        <pc:spChg chg="del mod">
          <ac:chgData name="alex seguin" userId="c47c39593cf1707d" providerId="LiveId" clId="{56C82717-B78C-4079-A034-267DC212A18F}" dt="2026-10-20T14:57:48.087" v="286" actId="478"/>
          <ac:spMkLst>
            <pc:docMk/>
            <pc:sldMk cId="0" sldId="260"/>
            <ac:spMk id="18" creationId="{00000000-0000-0000-0000-000000000000}"/>
          </ac:spMkLst>
        </pc:spChg>
        <pc:spChg chg="del">
          <ac:chgData name="alex seguin" userId="c47c39593cf1707d" providerId="LiveId" clId="{56C82717-B78C-4079-A034-267DC212A18F}" dt="2026-10-20T14:57:42.407" v="285" actId="478"/>
          <ac:spMkLst>
            <pc:docMk/>
            <pc:sldMk cId="0" sldId="260"/>
            <ac:spMk id="19" creationId="{00000000-0000-0000-0000-000000000000}"/>
          </ac:spMkLst>
        </pc:spChg>
        <pc:spChg chg="del mod">
          <ac:chgData name="alex seguin" userId="c47c39593cf1707d" providerId="LiveId" clId="{56C82717-B78C-4079-A034-267DC212A18F}" dt="2026-10-20T14:57:48.087" v="286" actId="478"/>
          <ac:spMkLst>
            <pc:docMk/>
            <pc:sldMk cId="0" sldId="260"/>
            <ac:spMk id="20" creationId="{00000000-0000-0000-0000-000000000000}"/>
          </ac:spMkLst>
        </pc:spChg>
        <pc:spChg chg="del mod">
          <ac:chgData name="alex seguin" userId="c47c39593cf1707d" providerId="LiveId" clId="{56C82717-B78C-4079-A034-267DC212A18F}" dt="2026-10-20T14:58:06.998" v="292" actId="478"/>
          <ac:spMkLst>
            <pc:docMk/>
            <pc:sldMk cId="0" sldId="260"/>
            <ac:spMk id="21" creationId="{00000000-0000-0000-0000-000000000000}"/>
          </ac:spMkLst>
        </pc:spChg>
        <pc:spChg chg="add del mod">
          <ac:chgData name="alex seguin" userId="c47c39593cf1707d" providerId="LiveId" clId="{56C82717-B78C-4079-A034-267DC212A18F}" dt="2026-10-20T14:39:05.990" v="241"/>
          <ac:spMkLst>
            <pc:docMk/>
            <pc:sldMk cId="0" sldId="260"/>
            <ac:spMk id="23" creationId="{33F5E9A1-93F0-7880-D11D-F04DB5562C12}"/>
          </ac:spMkLst>
        </pc:spChg>
        <pc:picChg chg="add mod">
          <ac:chgData name="alex seguin" userId="c47c39593cf1707d" providerId="LiveId" clId="{56C82717-B78C-4079-A034-267DC212A18F}" dt="2026-10-20T14:58:11.379" v="293" actId="1076"/>
          <ac:picMkLst>
            <pc:docMk/>
            <pc:sldMk cId="0" sldId="260"/>
            <ac:picMk id="24" creationId="{DC3AB369-9CE4-42C7-62CE-AF0F44415EC3}"/>
          </ac:picMkLst>
        </pc:picChg>
      </pc:sldChg>
      <pc:sldChg chg="modSp mod">
        <pc:chgData name="alex seguin" userId="c47c39593cf1707d" providerId="LiveId" clId="{56C82717-B78C-4079-A034-267DC212A18F}" dt="2026-10-20T18:27:15.917" v="375" actId="20577"/>
        <pc:sldMkLst>
          <pc:docMk/>
          <pc:sldMk cId="0" sldId="261"/>
        </pc:sldMkLst>
        <pc:spChg chg="mod">
          <ac:chgData name="alex seguin" userId="c47c39593cf1707d" providerId="LiveId" clId="{56C82717-B78C-4079-A034-267DC212A18F}" dt="2026-10-20T15:37:45.356" v="353" actId="20577"/>
          <ac:spMkLst>
            <pc:docMk/>
            <pc:sldMk cId="0" sldId="261"/>
            <ac:spMk id="5" creationId="{00000000-0000-0000-0000-000000000000}"/>
          </ac:spMkLst>
        </pc:spChg>
        <pc:spChg chg="mod">
          <ac:chgData name="alex seguin" userId="c47c39593cf1707d" providerId="LiveId" clId="{56C82717-B78C-4079-A034-267DC212A18F}" dt="2026-10-20T15:40:39.528" v="355" actId="20577"/>
          <ac:spMkLst>
            <pc:docMk/>
            <pc:sldMk cId="0" sldId="261"/>
            <ac:spMk id="11" creationId="{00000000-0000-0000-0000-000000000000}"/>
          </ac:spMkLst>
        </pc:spChg>
        <pc:spChg chg="mod">
          <ac:chgData name="alex seguin" userId="c47c39593cf1707d" providerId="LiveId" clId="{56C82717-B78C-4079-A034-267DC212A18F}" dt="2026-10-20T15:41:46.907" v="360" actId="20577"/>
          <ac:spMkLst>
            <pc:docMk/>
            <pc:sldMk cId="0" sldId="261"/>
            <ac:spMk id="14" creationId="{00000000-0000-0000-0000-000000000000}"/>
          </ac:spMkLst>
        </pc:spChg>
        <pc:spChg chg="mod">
          <ac:chgData name="alex seguin" userId="c47c39593cf1707d" providerId="LiveId" clId="{56C82717-B78C-4079-A034-267DC212A18F}" dt="2026-10-20T18:27:15.917" v="375" actId="20577"/>
          <ac:spMkLst>
            <pc:docMk/>
            <pc:sldMk cId="0" sldId="261"/>
            <ac:spMk id="17" creationId="{00000000-0000-0000-0000-000000000000}"/>
          </ac:spMkLst>
        </pc:spChg>
      </pc:sldChg>
      <pc:sldChg chg="modSp mod">
        <pc:chgData name="alex seguin" userId="c47c39593cf1707d" providerId="LiveId" clId="{56C82717-B78C-4079-A034-267DC212A18F}" dt="2026-10-21T14:04:53.846" v="385" actId="20577"/>
        <pc:sldMkLst>
          <pc:docMk/>
          <pc:sldMk cId="0" sldId="262"/>
        </pc:sldMkLst>
        <pc:spChg chg="mod">
          <ac:chgData name="alex seguin" userId="c47c39593cf1707d" providerId="LiveId" clId="{56C82717-B78C-4079-A034-267DC212A18F}" dt="2026-10-21T14:04:53.846" v="385" actId="20577"/>
          <ac:spMkLst>
            <pc:docMk/>
            <pc:sldMk cId="0" sldId="262"/>
            <ac:spMk id="11" creationId="{00000000-0000-0000-0000-000000000000}"/>
          </ac:spMkLst>
        </pc:spChg>
      </pc:sldChg>
      <pc:sldChg chg="add setBg">
        <pc:chgData name="alex seguin" userId="c47c39593cf1707d" providerId="LiveId" clId="{56C82717-B78C-4079-A034-267DC212A18F}" dt="2026-10-19T22:40:46.270" v="198"/>
        <pc:sldMkLst>
          <pc:docMk/>
          <pc:sldMk cId="0" sldId="263"/>
        </pc:sldMkLst>
      </pc:sldChg>
      <pc:sldChg chg="addSp delSp modSp add mod setBg">
        <pc:chgData name="alex seguin" userId="c47c39593cf1707d" providerId="LiveId" clId="{56C82717-B78C-4079-A034-267DC212A18F}" dt="2026-10-20T15:16:33.171" v="299" actId="1076"/>
        <pc:sldMkLst>
          <pc:docMk/>
          <pc:sldMk cId="0" sldId="264"/>
        </pc:sldMkLst>
        <pc:spChg chg="del">
          <ac:chgData name="alex seguin" userId="c47c39593cf1707d" providerId="LiveId" clId="{56C82717-B78C-4079-A034-267DC212A18F}" dt="2026-10-20T15:16:19.847" v="295" actId="478"/>
          <ac:spMkLst>
            <pc:docMk/>
            <pc:sldMk cId="0" sldId="264"/>
            <ac:spMk id="14" creationId="{00000000-0000-0000-0000-000000000000}"/>
          </ac:spMkLst>
        </pc:spChg>
        <pc:spChg chg="del">
          <ac:chgData name="alex seguin" userId="c47c39593cf1707d" providerId="LiveId" clId="{56C82717-B78C-4079-A034-267DC212A18F}" dt="2026-10-20T15:16:14.547" v="294" actId="478"/>
          <ac:spMkLst>
            <pc:docMk/>
            <pc:sldMk cId="0" sldId="264"/>
            <ac:spMk id="15" creationId="{00000000-0000-0000-0000-000000000000}"/>
          </ac:spMkLst>
        </pc:spChg>
        <pc:spChg chg="del">
          <ac:chgData name="alex seguin" userId="c47c39593cf1707d" providerId="LiveId" clId="{56C82717-B78C-4079-A034-267DC212A18F}" dt="2026-10-20T15:16:14.547" v="294" actId="478"/>
          <ac:spMkLst>
            <pc:docMk/>
            <pc:sldMk cId="0" sldId="264"/>
            <ac:spMk id="16" creationId="{00000000-0000-0000-0000-000000000000}"/>
          </ac:spMkLst>
        </pc:spChg>
        <pc:spChg chg="del">
          <ac:chgData name="alex seguin" userId="c47c39593cf1707d" providerId="LiveId" clId="{56C82717-B78C-4079-A034-267DC212A18F}" dt="2026-10-20T15:16:14.547" v="294" actId="478"/>
          <ac:spMkLst>
            <pc:docMk/>
            <pc:sldMk cId="0" sldId="264"/>
            <ac:spMk id="17" creationId="{00000000-0000-0000-0000-000000000000}"/>
          </ac:spMkLst>
        </pc:spChg>
        <pc:spChg chg="del">
          <ac:chgData name="alex seguin" userId="c47c39593cf1707d" providerId="LiveId" clId="{56C82717-B78C-4079-A034-267DC212A18F}" dt="2026-10-20T15:16:14.547" v="294" actId="478"/>
          <ac:spMkLst>
            <pc:docMk/>
            <pc:sldMk cId="0" sldId="264"/>
            <ac:spMk id="18" creationId="{00000000-0000-0000-0000-000000000000}"/>
          </ac:spMkLst>
        </pc:spChg>
        <pc:spChg chg="del">
          <ac:chgData name="alex seguin" userId="c47c39593cf1707d" providerId="LiveId" clId="{56C82717-B78C-4079-A034-267DC212A18F}" dt="2026-10-20T15:16:14.547" v="294" actId="478"/>
          <ac:spMkLst>
            <pc:docMk/>
            <pc:sldMk cId="0" sldId="264"/>
            <ac:spMk id="19" creationId="{00000000-0000-0000-0000-000000000000}"/>
          </ac:spMkLst>
        </pc:spChg>
        <pc:spChg chg="del">
          <ac:chgData name="alex seguin" userId="c47c39593cf1707d" providerId="LiveId" clId="{56C82717-B78C-4079-A034-267DC212A18F}" dt="2026-10-20T15:16:14.547" v="294" actId="478"/>
          <ac:spMkLst>
            <pc:docMk/>
            <pc:sldMk cId="0" sldId="264"/>
            <ac:spMk id="20" creationId="{00000000-0000-0000-0000-000000000000}"/>
          </ac:spMkLst>
        </pc:spChg>
        <pc:spChg chg="del">
          <ac:chgData name="alex seguin" userId="c47c39593cf1707d" providerId="LiveId" clId="{56C82717-B78C-4079-A034-267DC212A18F}" dt="2026-10-20T15:16:14.547" v="294" actId="478"/>
          <ac:spMkLst>
            <pc:docMk/>
            <pc:sldMk cId="0" sldId="264"/>
            <ac:spMk id="22" creationId="{00000000-0000-0000-0000-000000000000}"/>
          </ac:spMkLst>
        </pc:spChg>
        <pc:spChg chg="del">
          <ac:chgData name="alex seguin" userId="c47c39593cf1707d" providerId="LiveId" clId="{56C82717-B78C-4079-A034-267DC212A18F}" dt="2026-10-20T15:16:14.547" v="294" actId="478"/>
          <ac:spMkLst>
            <pc:docMk/>
            <pc:sldMk cId="0" sldId="264"/>
            <ac:spMk id="26" creationId="{00000000-0000-0000-0000-000000000000}"/>
          </ac:spMkLst>
        </pc:spChg>
        <pc:spChg chg="del">
          <ac:chgData name="alex seguin" userId="c47c39593cf1707d" providerId="LiveId" clId="{56C82717-B78C-4079-A034-267DC212A18F}" dt="2026-10-20T15:16:14.547" v="294" actId="478"/>
          <ac:spMkLst>
            <pc:docMk/>
            <pc:sldMk cId="0" sldId="264"/>
            <ac:spMk id="27" creationId="{00000000-0000-0000-0000-000000000000}"/>
          </ac:spMkLst>
        </pc:spChg>
        <pc:spChg chg="del">
          <ac:chgData name="alex seguin" userId="c47c39593cf1707d" providerId="LiveId" clId="{56C82717-B78C-4079-A034-267DC212A18F}" dt="2026-10-20T15:16:14.547" v="294" actId="478"/>
          <ac:spMkLst>
            <pc:docMk/>
            <pc:sldMk cId="0" sldId="264"/>
            <ac:spMk id="28" creationId="{00000000-0000-0000-0000-000000000000}"/>
          </ac:spMkLst>
        </pc:spChg>
        <pc:picChg chg="add mod">
          <ac:chgData name="alex seguin" userId="c47c39593cf1707d" providerId="LiveId" clId="{56C82717-B78C-4079-A034-267DC212A18F}" dt="2026-10-20T15:16:33.171" v="299" actId="1076"/>
          <ac:picMkLst>
            <pc:docMk/>
            <pc:sldMk cId="0" sldId="264"/>
            <ac:picMk id="31" creationId="{834FF45B-2E47-ACA2-1724-27A8CA68B56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37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234440"/>
            <a:ext cx="1069848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</a:defRPr>
            </a:pPr>
            <a:r>
              <a:t>✈ VOLARUS</a:t>
            </a:r>
          </a:p>
          <a:p>
            <a:pPr>
              <a:defRPr sz="3000" b="1">
                <a:solidFill>
                  <a:srgbClr val="B9DCFA"/>
                </a:solidFill>
              </a:defRPr>
            </a:pPr>
            <a:r>
              <a:t>PRÉDIRE LES RETARDS DE VOL</a:t>
            </a:r>
          </a:p>
          <a:p>
            <a:pPr>
              <a:defRPr sz="1700">
                <a:solidFill>
                  <a:srgbClr val="FFFFFF"/>
                </a:solidFill>
              </a:defRPr>
            </a:pPr>
            <a:r>
              <a:t>Jalon 1 • Données &amp; première exploration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4160520"/>
            <a:ext cx="2743200" cy="594360"/>
          </a:xfrm>
          <a:prstGeom prst="roundRect">
            <a:avLst/>
          </a:prstGeom>
          <a:solidFill>
            <a:srgbClr val="F0F7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4251959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93755"/>
                </a:solidFill>
              </a:defRPr>
            </a:pPr>
            <a:r>
              <a:t>Alex Séguin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03320" y="4160520"/>
            <a:ext cx="2971800" cy="594360"/>
          </a:xfrm>
          <a:prstGeom prst="roundRect">
            <a:avLst/>
          </a:prstGeom>
          <a:solidFill>
            <a:srgbClr val="F0F7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840480" y="4251959"/>
            <a:ext cx="2697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93755"/>
                </a:solidFill>
              </a:defRPr>
            </a:pPr>
            <a:r>
              <a:t>Jérémie Tremblay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5"/>
                </a:solidFill>
              </a:defRPr>
            </a:pPr>
            <a:r>
              <a:t>01 • DÉFINITION DU PROBLÈME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34440"/>
            <a:ext cx="5257800" cy="196596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193755"/>
                </a:solidFill>
              </a:defRPr>
            </a:pPr>
            <a:r>
              <a:t>1 • CLIENT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48006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3282D"/>
                </a:solidFill>
              </a:defRPr>
            </a:pPr>
            <a:r>
              <a:rPr dirty="0" err="1"/>
              <a:t>Volarus</a:t>
            </a:r>
            <a:endParaRPr dirty="0"/>
          </a:p>
          <a:p>
            <a:pPr algn="ctr">
              <a:defRPr sz="1600" b="0">
                <a:solidFill>
                  <a:srgbClr val="23282D"/>
                </a:solidFill>
              </a:defRPr>
            </a:pPr>
            <a:r>
              <a:rPr dirty="0"/>
              <a:t>✈ Compagnie </a:t>
            </a:r>
            <a:r>
              <a:rPr dirty="0" err="1"/>
              <a:t>aérienne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6263640" y="1234440"/>
            <a:ext cx="5257800" cy="1965960"/>
          </a:xfrm>
          <a:prstGeom prst="roundRect">
            <a:avLst/>
          </a:prstGeom>
          <a:solidFill>
            <a:srgbClr val="F0F7FC"/>
          </a:solidFill>
          <a:ln>
            <a:solidFill>
              <a:srgbClr val="F0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463040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193755"/>
                </a:solidFill>
              </a:defRPr>
            </a:pPr>
            <a:r>
              <a:t>2 • PROBLÈME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011680"/>
            <a:ext cx="48006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3282D"/>
                </a:solidFill>
              </a:defRPr>
            </a:pPr>
            <a:r>
              <a:t>Retards imprévisibles</a:t>
            </a:r>
          </a:p>
          <a:p>
            <a:pPr algn="ctr">
              <a:defRPr sz="1600" b="0">
                <a:solidFill>
                  <a:srgbClr val="23282D"/>
                </a:solidFill>
              </a:defRPr>
            </a:pPr>
            <a:r>
              <a:t>Durée inconnue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657600"/>
            <a:ext cx="5257800" cy="1965960"/>
          </a:xfrm>
          <a:prstGeom prst="roundRect">
            <a:avLst/>
          </a:prstGeom>
          <a:solidFill>
            <a:srgbClr val="F0F7FC"/>
          </a:solidFill>
          <a:ln>
            <a:solidFill>
              <a:srgbClr val="50A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3886200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193755"/>
                </a:solidFill>
              </a:defRPr>
            </a:pPr>
            <a:r>
              <a:t>3 • CAUSES / ENJEUX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434840"/>
            <a:ext cx="48006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3282D"/>
                </a:solidFill>
              </a:defRPr>
            </a:pPr>
            <a:r>
              <a:t>Clients frustrés</a:t>
            </a:r>
          </a:p>
          <a:p>
            <a:pPr algn="ctr">
              <a:defRPr sz="1600" b="0">
                <a:solidFill>
                  <a:srgbClr val="23282D"/>
                </a:solidFill>
              </a:defRPr>
            </a:pPr>
            <a:r>
              <a:t>Stress • surcharge</a:t>
            </a:r>
          </a:p>
          <a:p>
            <a:pPr algn="ctr">
              <a:defRPr sz="1600" b="0">
                <a:solidFill>
                  <a:srgbClr val="23282D"/>
                </a:solidFill>
              </a:defRPr>
            </a:pPr>
            <a:r>
              <a:t>Effet en chaîne • pertes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657600"/>
            <a:ext cx="5257800" cy="196596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3886200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193755"/>
                </a:solidFill>
              </a:defRPr>
            </a:pPr>
            <a:r>
              <a:t>6 • SOLUTION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434840"/>
            <a:ext cx="48006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3282D"/>
                </a:solidFill>
              </a:defRPr>
            </a:pPr>
            <a:r>
              <a:t>Classification</a:t>
            </a:r>
          </a:p>
          <a:p>
            <a:pPr algn="ctr">
              <a:defRPr sz="1600" b="0">
                <a:solidFill>
                  <a:srgbClr val="23282D"/>
                </a:solidFill>
              </a:defRPr>
            </a:pPr>
            <a:r>
              <a:t>+ Régression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6539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28C96"/>
                </a:solidFill>
              </a:defRPr>
            </a:pPr>
            <a:r>
              <a:t>VOLARUS • PROJET IA • ÉQUIPE 14                            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5"/>
                </a:solidFill>
              </a:defRPr>
            </a:pPr>
            <a:r>
              <a:t>02 • OBJECTIFS &amp; PÉRIMÈTRE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17320"/>
            <a:ext cx="3429000" cy="438912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2971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93755"/>
                </a:solidFill>
              </a:defRPr>
            </a:pPr>
            <a:r>
              <a:t>OBJECTIFS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19" y="2423160"/>
            <a:ext cx="2788920" cy="2834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600"/>
              </a:spcAft>
              <a:defRPr sz="1700">
                <a:solidFill>
                  <a:srgbClr val="23282D"/>
                </a:solidFill>
              </a:defRPr>
            </a:pPr>
            <a:r>
              <a:t>Classification ≥ 70 %</a:t>
            </a:r>
          </a:p>
          <a:p>
            <a:pPr algn="ctr">
              <a:spcAft>
                <a:spcPts val="1600"/>
              </a:spcAft>
              <a:defRPr sz="1700">
                <a:solidFill>
                  <a:srgbClr val="23282D"/>
                </a:solidFill>
              </a:defRPr>
            </a:pPr>
            <a:r>
              <a:t>Retard : ±15 min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429000" cy="4389120"/>
          </a:xfrm>
          <a:prstGeom prst="roundRect">
            <a:avLst/>
          </a:prstGeom>
          <a:solidFill>
            <a:srgbClr val="F0F7FC"/>
          </a:solidFill>
          <a:ln>
            <a:solidFill>
              <a:srgbClr val="50A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0" y="1691640"/>
            <a:ext cx="2971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93755"/>
                </a:solidFill>
              </a:defRPr>
            </a:pPr>
            <a:r>
              <a:t>COUVRE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423160"/>
            <a:ext cx="2788920" cy="2834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600"/>
              </a:spcAft>
              <a:defRPr sz="1700">
                <a:solidFill>
                  <a:srgbClr val="23282D"/>
                </a:solidFill>
              </a:defRPr>
            </a:pPr>
            <a:r>
              <a:t>Analyse des vols</a:t>
            </a:r>
          </a:p>
          <a:p>
            <a:pPr algn="ctr">
              <a:spcAft>
                <a:spcPts val="1600"/>
              </a:spcAft>
              <a:defRPr sz="1700">
                <a:solidFill>
                  <a:srgbClr val="23282D"/>
                </a:solidFill>
              </a:defRPr>
            </a:pPr>
            <a:r>
              <a:t>Classification</a:t>
            </a:r>
          </a:p>
          <a:p>
            <a:pPr algn="ctr">
              <a:spcAft>
                <a:spcPts val="1600"/>
              </a:spcAft>
              <a:defRPr sz="1700">
                <a:solidFill>
                  <a:srgbClr val="23282D"/>
                </a:solidFill>
              </a:defRPr>
            </a:pPr>
            <a:r>
              <a:t>Régression</a:t>
            </a:r>
          </a:p>
          <a:p>
            <a:pPr algn="ctr">
              <a:spcAft>
                <a:spcPts val="1600"/>
              </a:spcAft>
              <a:defRPr sz="1700">
                <a:solidFill>
                  <a:srgbClr val="23282D"/>
                </a:solidFill>
              </a:defRPr>
            </a:pPr>
            <a:r>
              <a:t>Prototype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17320"/>
            <a:ext cx="3429000" cy="4389120"/>
          </a:xfrm>
          <a:prstGeom prst="roundRect">
            <a:avLst/>
          </a:prstGeom>
          <a:solidFill>
            <a:srgbClr val="F0F7FC"/>
          </a:solidFill>
          <a:ln>
            <a:solidFill>
              <a:srgbClr val="F0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75320" y="1691640"/>
            <a:ext cx="2971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93755"/>
                </a:solidFill>
              </a:defRPr>
            </a:pPr>
            <a:r>
              <a:t>NE COUVRE PAS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2423160"/>
            <a:ext cx="2788920" cy="2834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600"/>
              </a:spcAft>
              <a:defRPr sz="1700">
                <a:solidFill>
                  <a:srgbClr val="23282D"/>
                </a:solidFill>
              </a:defRPr>
            </a:pPr>
            <a:r>
              <a:t>Annuler / modifier</a:t>
            </a:r>
          </a:p>
          <a:p>
            <a:pPr algn="ctr">
              <a:spcAft>
                <a:spcPts val="1600"/>
              </a:spcAft>
              <a:defRPr sz="1700">
                <a:solidFill>
                  <a:srgbClr val="23282D"/>
                </a:solidFill>
              </a:defRPr>
            </a:pPr>
            <a:r>
              <a:t>Contrôler les opérations</a:t>
            </a:r>
          </a:p>
          <a:p>
            <a:pPr algn="ctr">
              <a:spcAft>
                <a:spcPts val="1600"/>
              </a:spcAft>
              <a:defRPr sz="1700">
                <a:solidFill>
                  <a:srgbClr val="23282D"/>
                </a:solidFill>
              </a:defRPr>
            </a:pPr>
            <a:r>
              <a:t>Système réel complet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56539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28C96"/>
                </a:solidFill>
              </a:defRPr>
            </a:pPr>
            <a:r>
              <a:t>VOLARUS • PROJET IA • ÉQUIPE 14                            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5"/>
                </a:solidFill>
              </a:defRPr>
            </a:pPr>
            <a:r>
              <a:t>03 • DONNÉES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17320"/>
            <a:ext cx="5212080" cy="68580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740697" y="1355533"/>
            <a:ext cx="3230308" cy="50783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rPr sz="1700" b="1" dirty="0">
                <a:solidFill>
                  <a:srgbClr val="1F3B56"/>
                </a:solidFill>
                <a:latin typeface="Aptos"/>
              </a:rPr>
              <a:t>Flight Delay Dataset 2018-2022</a:t>
            </a:r>
          </a:p>
          <a:p>
            <a:pPr algn="ctr"/>
            <a:r>
              <a:rPr sz="1000" b="1" dirty="0">
                <a:solidFill>
                  <a:srgbClr val="2D2D2D"/>
                </a:solidFill>
                <a:latin typeface="Aptos"/>
              </a:rPr>
              <a:t>Trouvé sur Kaggle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417320"/>
            <a:ext cx="5212080" cy="685800"/>
          </a:xfrm>
          <a:prstGeom prst="roundRect">
            <a:avLst/>
          </a:prstGeom>
          <a:solidFill>
            <a:srgbClr val="F0F7FC"/>
          </a:solidFill>
          <a:ln>
            <a:solidFill>
              <a:srgbClr val="50A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1F3B56"/>
                </a:solidFill>
                <a:latin typeface="Aptos"/>
              </a:rPr>
              <a:t>29 193 782 vols au départ
1 000 000 retenus pour le projet</a:t>
            </a:r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2514600"/>
            <a:ext cx="3383280" cy="685800"/>
          </a:xfrm>
          <a:prstGeom prst="roundRect">
            <a:avLst/>
          </a:prstGeom>
          <a:solidFill>
            <a:srgbClr val="F0F7FC"/>
          </a:solidFill>
          <a:ln>
            <a:solidFill>
              <a:srgbClr val="F0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725084" y="2642616"/>
            <a:ext cx="1396151" cy="3847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rPr lang="en-US" dirty="0"/>
              <a:t>61</a:t>
            </a:r>
            <a:r>
              <a:rPr dirty="0"/>
              <a:t> variables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514600"/>
            <a:ext cx="3383280" cy="68580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34840" y="2642616"/>
            <a:ext cx="3200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rPr dirty="0"/>
              <a:t>CSV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2514600"/>
            <a:ext cx="3520440" cy="685800"/>
          </a:xfrm>
          <a:prstGeom prst="roundRect">
            <a:avLst/>
          </a:prstGeom>
          <a:solidFill>
            <a:srgbClr val="F0F7FC"/>
          </a:solidFill>
          <a:ln>
            <a:solidFill>
              <a:srgbClr val="50A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19" y="2642616"/>
            <a:ext cx="3337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t>Public • Gratuit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6539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28C96"/>
                </a:solidFill>
              </a:defRPr>
            </a:pPr>
            <a:r>
              <a:t>VOLARUS • PROJET IA • ÉQUIPE 14                                      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12820" y="5413248"/>
            <a:ext cx="5166360" cy="960120"/>
          </a:xfrm>
          <a:prstGeom prst="roundRect">
            <a:avLst/>
          </a:prstGeom>
          <a:solidFill>
            <a:srgbClr val="F7FAFD"/>
          </a:solidFill>
          <a:ln>
            <a:solidFill>
              <a:srgbClr val="50A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87464" y="5532120"/>
            <a:ext cx="3817071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193755"/>
                </a:solidFill>
              </a:defRPr>
            </a:pPr>
            <a:r>
              <a:rPr sz="1600" b="1" dirty="0">
                <a:solidFill>
                  <a:srgbClr val="1F3B56"/>
                </a:solidFill>
                <a:latin typeface="Aptos"/>
              </a:rPr>
              <a:t>Données </a:t>
            </a:r>
            <a:r>
              <a:rPr sz="1600" b="1" dirty="0" err="1">
                <a:solidFill>
                  <a:srgbClr val="1F3B56"/>
                </a:solidFill>
                <a:latin typeface="Aptos"/>
              </a:rPr>
              <a:t>couvrant</a:t>
            </a:r>
            <a:r>
              <a:rPr sz="1600" b="1" dirty="0">
                <a:solidFill>
                  <a:srgbClr val="1F3B56"/>
                </a:solidFill>
                <a:latin typeface="Aptos"/>
              </a:rPr>
              <a:t> la </a:t>
            </a:r>
            <a:r>
              <a:rPr sz="1600" b="1" dirty="0" err="1">
                <a:solidFill>
                  <a:srgbClr val="1F3B56"/>
                </a:solidFill>
                <a:latin typeface="Aptos"/>
              </a:rPr>
              <a:t>période</a:t>
            </a:r>
            <a:r>
              <a:rPr sz="1600" b="1" dirty="0">
                <a:solidFill>
                  <a:srgbClr val="1F3B56"/>
                </a:solidFill>
                <a:latin typeface="Aptos"/>
              </a:rPr>
              <a:t> 2018–2022</a:t>
            </a:r>
            <a:endParaRPr dirty="0"/>
          </a:p>
        </p:txBody>
      </p:sp>
      <p:sp>
        <p:nvSpPr>
          <p:cNvPr id="14" name="Rounded Rectangle 8">
            <a:extLst>
              <a:ext uri="{FF2B5EF4-FFF2-40B4-BE49-F238E27FC236}">
                <a16:creationId xmlns:a16="http://schemas.microsoft.com/office/drawing/2014/main" id="{F259FD9A-4259-4ED1-9C21-006D72410430}"/>
              </a:ext>
            </a:extLst>
          </p:cNvPr>
          <p:cNvSpPr/>
          <p:nvPr/>
        </p:nvSpPr>
        <p:spPr>
          <a:xfrm>
            <a:off x="4205752" y="3735324"/>
            <a:ext cx="3803904" cy="1065276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rPr lang="fr-CA" sz="1900" b="1" dirty="0">
                <a:solidFill>
                  <a:srgbClr val="193755"/>
                </a:solidFill>
              </a:rPr>
              <a:t>Bureau of transportation </a:t>
            </a:r>
            <a:r>
              <a:rPr lang="fr-CA" sz="1900" b="1" dirty="0" err="1">
                <a:solidFill>
                  <a:srgbClr val="193755"/>
                </a:solidFill>
              </a:rPr>
              <a:t>Statistics</a:t>
            </a:r>
            <a:r>
              <a:rPr lang="fr-CA" sz="1900" b="1" dirty="0">
                <a:solidFill>
                  <a:srgbClr val="193755"/>
                </a:solidFill>
              </a:rPr>
              <a:t>  </a:t>
            </a:r>
            <a:r>
              <a:rPr lang="fr-CA" sz="1000" dirty="0">
                <a:solidFill>
                  <a:srgbClr val="2D2D2D"/>
                </a:solidFill>
                <a:latin typeface="Aptos"/>
              </a:rPr>
              <a:t>Organisme Gouvernemental Américain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5080686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5"/>
                </a:solidFill>
              </a:defRPr>
            </a:pPr>
            <a:r>
              <a:rPr dirty="0"/>
              <a:t>04 • VARIABLES </a:t>
            </a:r>
            <a:r>
              <a:rPr lang="en-US" dirty="0"/>
              <a:t>IMPORTANTES</a:t>
            </a:r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731520" y="1417320"/>
            <a:ext cx="5212080" cy="59436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1508760"/>
            <a:ext cx="4937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rPr dirty="0"/>
              <a:t>VARIABLES EXPLICATIVES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2240280"/>
            <a:ext cx="4754880" cy="45720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944664" y="2331720"/>
            <a:ext cx="785793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193755"/>
                </a:solidFill>
              </a:defRPr>
            </a:pPr>
            <a:r>
              <a:rPr lang="en-US" dirty="0"/>
              <a:t>Airlines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960120" y="2834640"/>
            <a:ext cx="4754880" cy="45720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065176" y="2926080"/>
            <a:ext cx="544766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193755"/>
                </a:solidFill>
              </a:defRPr>
            </a:pPr>
            <a:r>
              <a:rPr lang="en-US" dirty="0"/>
              <a:t>Dest</a:t>
            </a: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960120" y="3429000"/>
            <a:ext cx="4754880" cy="45720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02372" y="3520440"/>
            <a:ext cx="670376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193755"/>
                </a:solidFill>
              </a:defRPr>
            </a:pPr>
            <a:r>
              <a:rPr lang="en-US" dirty="0"/>
              <a:t>Origin</a:t>
            </a:r>
            <a:endParaRPr dirty="0"/>
          </a:p>
        </p:txBody>
      </p:sp>
      <p:sp>
        <p:nvSpPr>
          <p:cNvPr id="11" name="Rounded Rectangle 10"/>
          <p:cNvSpPr/>
          <p:nvPr/>
        </p:nvSpPr>
        <p:spPr>
          <a:xfrm>
            <a:off x="960120" y="4023360"/>
            <a:ext cx="4754880" cy="45720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97280" y="4114800"/>
            <a:ext cx="4480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193755"/>
                </a:solidFill>
              </a:defRPr>
            </a:pPr>
            <a:r>
              <a:t>DISTANCE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" y="4617720"/>
            <a:ext cx="4754880" cy="45720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4709160"/>
            <a:ext cx="4480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193755"/>
                </a:solidFill>
              </a:defRPr>
            </a:pPr>
            <a:r>
              <a:rPr dirty="0"/>
              <a:t>CRS_DEP_TIME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56539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28C96"/>
                </a:solidFill>
              </a:defRPr>
            </a:pPr>
            <a:r>
              <a:t>VOLARUS • PROJET IA • ÉQUIPE 14                                      5</a:t>
            </a: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DC3AB369-9CE4-42C7-62CE-AF0F44415E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9949" y="1650690"/>
            <a:ext cx="5319358" cy="30584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 lIns="73152" tIns="18288" rIns="73152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3B58"/>
                </a:solidFill>
                <a:latin typeface="Aptos"/>
              </a:rPr>
              <a:t>05 • CIBLES &amp; VARIABLES À SURVEILLER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115568"/>
            <a:ext cx="3657600" cy="438912"/>
          </a:xfrm>
          <a:prstGeom prst="roundRect">
            <a:avLst/>
          </a:prstGeom>
          <a:solidFill>
            <a:srgbClr val="EFF6FC"/>
          </a:solidFill>
          <a:ln w="15240">
            <a:solidFill>
              <a:srgbClr val="5B97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1124712"/>
            <a:ext cx="3429000" cy="411480"/>
          </a:xfrm>
          <a:prstGeom prst="rect">
            <a:avLst/>
          </a:prstGeom>
          <a:noFill/>
        </p:spPr>
        <p:txBody>
          <a:bodyPr wrap="square" lIns="73152" tIns="18288" rIns="73152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D3B58"/>
                </a:solidFill>
                <a:latin typeface="Aptos"/>
              </a:rPr>
              <a:t>VARIABLES CIBLES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53712" y="1115568"/>
            <a:ext cx="6949440" cy="438912"/>
          </a:xfrm>
          <a:prstGeom prst="roundRect">
            <a:avLst/>
          </a:prstGeom>
          <a:solidFill>
            <a:srgbClr val="F1F8F4"/>
          </a:solidFill>
          <a:ln w="15240">
            <a:solidFill>
              <a:srgbClr val="6FAA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681728" y="1124712"/>
            <a:ext cx="6675120" cy="411480"/>
          </a:xfrm>
          <a:prstGeom prst="rect">
            <a:avLst/>
          </a:prstGeom>
          <a:noFill/>
        </p:spPr>
        <p:txBody>
          <a:bodyPr wrap="square" lIns="73152" tIns="18288" rIns="73152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D3B58"/>
                </a:solidFill>
                <a:latin typeface="Aptos"/>
              </a:rPr>
              <a:t>VARIABLES POTENTIELLEMENT PROBLÉMATIQUES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783080"/>
            <a:ext cx="3520440" cy="1417320"/>
          </a:xfrm>
          <a:prstGeom prst="roundRect">
            <a:avLst/>
          </a:prstGeom>
          <a:solidFill>
            <a:srgbClr val="EFF6FC"/>
          </a:solidFill>
          <a:ln w="15240">
            <a:solidFill>
              <a:srgbClr val="5B97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3154680" cy="347472"/>
          </a:xfrm>
          <a:prstGeom prst="rect">
            <a:avLst/>
          </a:prstGeom>
          <a:noFill/>
        </p:spPr>
        <p:txBody>
          <a:bodyPr wrap="square" lIns="73152" tIns="18288" rIns="73152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D3B58"/>
                </a:solidFill>
                <a:latin typeface="Aptos"/>
              </a:rPr>
              <a:t>ArrDel15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267712"/>
            <a:ext cx="3063240" cy="685800"/>
          </a:xfrm>
          <a:prstGeom prst="rect">
            <a:avLst/>
          </a:prstGeom>
          <a:noFill/>
        </p:spPr>
        <p:txBody>
          <a:bodyPr wrap="square" lIns="73152" tIns="18288" rIns="73152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2F3943"/>
                </a:solidFill>
                <a:latin typeface="Aptos"/>
              </a:rPr>
              <a:t>Classification • 1 = arrivée avec ≥ 15 min de retard; 0 = sinon.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3401568"/>
            <a:ext cx="3520440" cy="1417320"/>
          </a:xfrm>
          <a:prstGeom prst="roundRect">
            <a:avLst/>
          </a:prstGeom>
          <a:solidFill>
            <a:srgbClr val="F1F8F4"/>
          </a:solidFill>
          <a:ln w="15240">
            <a:solidFill>
              <a:srgbClr val="6FAA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" y="3520440"/>
            <a:ext cx="3154680" cy="347472"/>
          </a:xfrm>
          <a:prstGeom prst="rect">
            <a:avLst/>
          </a:prstGeom>
          <a:noFill/>
        </p:spPr>
        <p:txBody>
          <a:bodyPr wrap="square" lIns="73152" tIns="18288" rIns="73152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D3B58"/>
                </a:solidFill>
                <a:latin typeface="Aptos"/>
              </a:rPr>
              <a:t>Arr_Delay_Minutes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86200"/>
            <a:ext cx="3063240" cy="685800"/>
          </a:xfrm>
          <a:prstGeom prst="rect">
            <a:avLst/>
          </a:prstGeom>
          <a:noFill/>
        </p:spPr>
        <p:txBody>
          <a:bodyPr wrap="square" lIns="73152" tIns="18288" rIns="73152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2F3943"/>
                </a:solidFill>
                <a:latin typeface="Aptos"/>
              </a:rPr>
              <a:t>Régression • nombre de minutes de retard à l’arrivée.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074920"/>
            <a:ext cx="3337560" cy="713232"/>
          </a:xfrm>
          <a:prstGeom prst="rect">
            <a:avLst/>
          </a:prstGeom>
          <a:noFill/>
        </p:spPr>
        <p:txBody>
          <a:bodyPr wrap="square" lIns="73152" tIns="18288" rIns="73152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687785"/>
                </a:solidFill>
                <a:latin typeface="Aptos"/>
              </a:rPr>
              <a:t>À retenir : les cibles servent à entraîner et évaluer les modèles; elles ne doivent pas être des entrées.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547104"/>
            <a:ext cx="10972800" cy="182880"/>
          </a:xfrm>
          <a:prstGeom prst="rect">
            <a:avLst/>
          </a:prstGeom>
          <a:noFill/>
        </p:spPr>
        <p:txBody>
          <a:bodyPr wrap="square" lIns="73152" tIns="18288" rIns="73152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87785"/>
                </a:solidFill>
                <a:latin typeface="Aptos"/>
              </a:rPr>
              <a:t>VOLARUS • PROJET IA • ÉQUIPE 14                                      6</a:t>
            </a: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834FF45B-2E47-ACA2-1724-27A8CA68B5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0656" y="1736822"/>
            <a:ext cx="5963792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5"/>
                </a:solidFill>
              </a:defRPr>
            </a:pPr>
            <a:r>
              <a:t>05 • EXPLORATION INITIALE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71600"/>
            <a:ext cx="3474720" cy="1828800"/>
          </a:xfrm>
          <a:prstGeom prst="roundRect">
            <a:avLst/>
          </a:prstGeom>
          <a:solidFill>
            <a:srgbClr val="F0F7FC"/>
          </a:solidFill>
          <a:ln>
            <a:solidFill>
              <a:srgbClr val="F0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59" y="16276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t>NULL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379" y="2240280"/>
            <a:ext cx="2560124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23282D"/>
                </a:solidFill>
              </a:defRPr>
            </a:pPr>
            <a:r>
              <a:rPr lang="fr-CA" dirty="0"/>
              <a:t>Quelques Valeurs manquantes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4343400" y="1371600"/>
            <a:ext cx="3474720" cy="182880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26280" y="16276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t>OBJECT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2240280"/>
            <a:ext cx="31089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23282D"/>
                </a:solidFill>
              </a:defRPr>
            </a:pPr>
            <a:r>
              <a:rPr dirty="0" err="1"/>
              <a:t>Encodage</a:t>
            </a:r>
            <a:r>
              <a:rPr dirty="0"/>
              <a:t> </a:t>
            </a:r>
            <a:r>
              <a:rPr dirty="0" err="1"/>
              <a:t>nécessaire</a:t>
            </a: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474720" cy="1828800"/>
          </a:xfrm>
          <a:prstGeom prst="roundRect">
            <a:avLst/>
          </a:prstGeom>
          <a:solidFill>
            <a:srgbClr val="F0F7FC"/>
          </a:solidFill>
          <a:ln>
            <a:solidFill>
              <a:srgbClr val="50A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0" y="16276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t>CORRÉLATION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4486" y="2240280"/>
            <a:ext cx="2899192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23282D"/>
                </a:solidFill>
              </a:defRPr>
            </a:pPr>
            <a:r>
              <a:rPr dirty="0" err="1"/>
              <a:t>Redondance</a:t>
            </a:r>
            <a:r>
              <a:rPr dirty="0"/>
              <a:t> </a:t>
            </a:r>
            <a:r>
              <a:rPr lang="en-US" dirty="0"/>
              <a:t>de</a:t>
            </a:r>
            <a:r>
              <a:rPr lang="fr-CA" dirty="0"/>
              <a:t> certaines colonnes</a:t>
            </a:r>
            <a:endParaRPr dirty="0"/>
          </a:p>
        </p:txBody>
      </p:sp>
      <p:sp>
        <p:nvSpPr>
          <p:cNvPr id="12" name="Rounded Rectangle 11"/>
          <p:cNvSpPr/>
          <p:nvPr/>
        </p:nvSpPr>
        <p:spPr>
          <a:xfrm>
            <a:off x="640080" y="3657600"/>
            <a:ext cx="3474720" cy="182880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39136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t>DOUBLONS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37443" y="4526280"/>
            <a:ext cx="679994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23282D"/>
                </a:solidFill>
              </a:defRPr>
            </a:pPr>
            <a:r>
              <a:rPr lang="en-US" dirty="0" err="1"/>
              <a:t>Aucun</a:t>
            </a:r>
            <a:endParaRPr dirty="0"/>
          </a:p>
        </p:txBody>
      </p:sp>
      <p:sp>
        <p:nvSpPr>
          <p:cNvPr id="15" name="Rounded Rectangle 14"/>
          <p:cNvSpPr/>
          <p:nvPr/>
        </p:nvSpPr>
        <p:spPr>
          <a:xfrm>
            <a:off x="4343400" y="3657600"/>
            <a:ext cx="3474720" cy="1828800"/>
          </a:xfrm>
          <a:prstGeom prst="roundRect">
            <a:avLst/>
          </a:prstGeom>
          <a:solidFill>
            <a:srgbClr val="F0F7FC"/>
          </a:solidFill>
          <a:ln>
            <a:solidFill>
              <a:srgbClr val="F0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26280" y="39136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t>OUTLIERS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49238" y="4526280"/>
            <a:ext cx="1063048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23282D"/>
                </a:solidFill>
              </a:defRPr>
            </a:pPr>
            <a:r>
              <a:rPr lang="en-US" dirty="0"/>
              <a:t>Non </a:t>
            </a:r>
            <a:r>
              <a:rPr lang="en-US" dirty="0" err="1"/>
              <a:t>définit</a:t>
            </a:r>
            <a:endParaRPr dirty="0"/>
          </a:p>
        </p:txBody>
      </p:sp>
      <p:sp>
        <p:nvSpPr>
          <p:cNvPr id="18" name="Rounded Rectangle 17"/>
          <p:cNvSpPr/>
          <p:nvPr/>
        </p:nvSpPr>
        <p:spPr>
          <a:xfrm>
            <a:off x="8046720" y="3657600"/>
            <a:ext cx="3474720" cy="1828800"/>
          </a:xfrm>
          <a:prstGeom prst="roundRect">
            <a:avLst/>
          </a:prstGeom>
          <a:solidFill>
            <a:srgbClr val="F0F7FC"/>
          </a:solidFill>
          <a:ln>
            <a:solidFill>
              <a:srgbClr val="50A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0" y="39136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t>DATA LEAKAGE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526280"/>
            <a:ext cx="31089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23282D"/>
                </a:solidFill>
              </a:defRPr>
            </a:pPr>
            <a:r>
              <a:rPr dirty="0"/>
              <a:t>À </a:t>
            </a:r>
            <a:r>
              <a:rPr dirty="0" err="1"/>
              <a:t>surveiller</a:t>
            </a:r>
            <a:endParaRPr dirty="0"/>
          </a:p>
        </p:txBody>
      </p:sp>
      <p:sp>
        <p:nvSpPr>
          <p:cNvPr id="21" name="TextBox 20"/>
          <p:cNvSpPr txBox="1"/>
          <p:nvPr/>
        </p:nvSpPr>
        <p:spPr>
          <a:xfrm>
            <a:off x="594360" y="656539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28C96"/>
                </a:solidFill>
              </a:defRPr>
            </a:pPr>
            <a:r>
              <a:t>VOLARUS • PROJET IA • ÉQUIPE 14                                     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37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68580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06 • PROCHAINES ÉTAPES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148840"/>
            <a:ext cx="2331720" cy="960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2450592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93755"/>
                </a:solidFill>
              </a:defRPr>
            </a:pPr>
            <a:r>
              <a:t>PRÉPARATION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03320" y="2148840"/>
            <a:ext cx="2331720" cy="960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794759" y="2450592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93755"/>
                </a:solidFill>
              </a:defRPr>
            </a:pPr>
            <a:r>
              <a:t>MODÉLISATION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2148840"/>
            <a:ext cx="2331720" cy="960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79" y="2450592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93755"/>
                </a:solidFill>
              </a:defRPr>
            </a:pPr>
            <a:r>
              <a:t>OPTIMISATION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81159" y="2148840"/>
            <a:ext cx="2331720" cy="960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72599" y="2450592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93755"/>
                </a:solidFill>
              </a:defRPr>
            </a:pPr>
            <a:r>
              <a:t>ÉVALUATION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0041" y="4069080"/>
            <a:ext cx="6201441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B9DCFA"/>
                </a:solidFill>
              </a:defRPr>
            </a:pPr>
            <a:r>
              <a:rPr dirty="0" err="1"/>
              <a:t>Nettoyer</a:t>
            </a:r>
            <a:r>
              <a:rPr dirty="0"/>
              <a:t>  •  Transformer  •  Tester  •  Comparer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1384</TotalTime>
  <Words>303</Words>
  <Application>Microsoft Office PowerPoint</Application>
  <PresentationFormat>Grand écran</PresentationFormat>
  <Paragraphs>81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alex seguin</cp:lastModifiedBy>
  <cp:revision>2</cp:revision>
  <dcterms:created xsi:type="dcterms:W3CDTF">2013-01-27T09:14:16Z</dcterms:created>
  <dcterms:modified xsi:type="dcterms:W3CDTF">2026-10-21T14:05:10Z</dcterms:modified>
  <cp:category/>
</cp:coreProperties>
</file>